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 THESIS SCRIPT (~2:50, personal-anecdote opening)
Two months ago, I went to a clinic with a minor health concern. My doctor sent me for eight lab tests. Eight. When I looked into it afterward, I realized only one of them was actually necessary for what I had. The rest were ordered as part of a routine bundle, whether I needed them or not.
And it turns out I'm not an outlier. Across hospitals in five different countries, this kind of reflexive panel ordering, a complete blood count, blood group, Hepatitis B, Hepatitis C, and blood sugar, all ordered together as one bundle, is standard practice. The CBC, the very first test on that list, is already the single most commonly ordered lab test anywhere in the world.
Every one of those extra tests costs money and adds to lab turnaround time, often for no real diagnostic benefit. So my team and I are asking a simple question: if a patient is already getting that one test, the CBC, can it tell us which of the others are actually worth running, instead of ordering the whole bundle on everyone, every time?
As our first proof of concept, we picked one test from that bundle, blood sugar, and asked whether a routine CBC, combined with basic demographics like age and sex, can flag a diabetes-range HbA1c result. We used NHANES, a large, nationally representative U.S. health survey, linking each person's CBC results, demographics, and HbA1c outcome through a shared ID. Adding the CBC information measurably improved our ability to flag that result: the AUROC, which measures how well a model tells two groups apart, rose from zero point seven four using demographics alone to zero point eight one once we added the blood count.
That's a meaningful signal, pulled entirely from data the patient already gave, for a completely unrelated reason. And the same underlying approach doesn't have to stop at diabetes, it could ask the same kind of question about Hepatitis B, Hepatitis C, or blood group testing: does this patient's CBC suggest that test is actually worth running, or can it reasonably be skipped this time?
This is just one pilot module inside a much bigger idea, not a finished tool. But the underlying goal stays the same: fewer unnecessary blood draws, lower costs for patients, and a lab workflow built around the one test almost everyone already gets.
So instead of asking, which eight tests should we order on this patient, imagine a lab that asks something smarter: you've already got the CBC, here's what else is actually worth checking, and here's what you can safely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830"/>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Stop Ordering Tests You Don't Need</a:t>
            </a:r>
            <a:endParaRPr lang="en-US" sz="3400" dirty="0"/>
          </a:p>
        </p:txBody>
      </p:sp>
      <p:sp>
        <p:nvSpPr>
          <p:cNvPr id="3" name="Text 1"/>
          <p:cNvSpPr txBox="1"/>
          <p:nvPr/>
        </p:nvSpPr>
        <p:spPr>
          <a:xfrm>
            <a:off x="548640" y="1051560"/>
            <a:ext cx="11091672" cy="411480"/>
          </a:xfrm>
          <a:prstGeom prst="rect">
            <a:avLst/>
          </a:prstGeom>
          <a:noFill/>
          <a:ln/>
        </p:spPr>
        <p:txBody>
          <a:bodyPr wrap="square" lIns="0" tIns="0" rIns="0" bIns="0" rtlCol="0" anchor="ctr"/>
          <a:lstStyle/>
          <a:p>
            <a:pPr algn="ctr" indent="0" marL="0">
              <a:buNone/>
            </a:pPr>
            <a:r>
              <a:rPr lang="en-US" sz="1700" i="1" dirty="0">
                <a:solidFill>
                  <a:srgbClr val="B9C4D8"/>
                </a:solidFill>
                <a:latin typeface="Calibri" pitchFamily="34" charset="0"/>
                <a:ea typeface="Calibri" pitchFamily="34" charset="-122"/>
                <a:cs typeface="Calibri" pitchFamily="34" charset="-120"/>
              </a:rPr>
              <a:t>One CBC you already have could tell you which other tests are actually worth running</a:t>
            </a:r>
            <a:endParaRPr lang="en-US" sz="1700" dirty="0"/>
          </a:p>
        </p:txBody>
      </p:sp>
      <p:sp>
        <p:nvSpPr>
          <p:cNvPr id="4" name="Shape 2"/>
          <p:cNvSpPr/>
          <p:nvPr/>
        </p:nvSpPr>
        <p:spPr>
          <a:xfrm>
            <a:off x="1234440" y="2578608"/>
            <a:ext cx="914400" cy="914400"/>
          </a:xfrm>
          <a:prstGeom prst="ellipse">
            <a:avLst/>
          </a:prstGeom>
          <a:solidFill>
            <a:srgbClr val="C8102E"/>
          </a:solidFill>
          <a:ln/>
        </p:spPr>
      </p:sp>
      <p:sp>
        <p:nvSpPr>
          <p:cNvPr id="5" name="Text 3"/>
          <p:cNvSpPr txBox="1"/>
          <p:nvPr/>
        </p:nvSpPr>
        <p:spPr>
          <a:xfrm>
            <a:off x="457200" y="3630168"/>
            <a:ext cx="2468880" cy="59436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CBC</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(already drawn for nearly every patient)</a:t>
            </a:r>
            <a:endParaRPr lang="en-US" sz="1300" dirty="0"/>
          </a:p>
        </p:txBody>
      </p:sp>
      <p:sp>
        <p:nvSpPr>
          <p:cNvPr id="6" name="Text 4"/>
          <p:cNvSpPr txBox="1"/>
          <p:nvPr/>
        </p:nvSpPr>
        <p:spPr>
          <a:xfrm>
            <a:off x="2926080" y="2670048"/>
            <a:ext cx="548640" cy="731520"/>
          </a:xfrm>
          <a:prstGeom prst="rect">
            <a:avLst/>
          </a:prstGeom>
          <a:noFill/>
          <a:ln/>
        </p:spPr>
        <p:txBody>
          <a:bodyPr wrap="square" lIns="0" tIns="0" rIns="0" bIns="0" rtlCol="0" anchor="ctr"/>
          <a:lstStyle/>
          <a:p>
            <a:pPr algn="ctr" indent="0" marL="0">
              <a:buNone/>
            </a:pPr>
            <a:r>
              <a:rPr lang="en-US" sz="3600" b="1" dirty="0">
                <a:solidFill>
                  <a:srgbClr val="B9C4D8"/>
                </a:solidFill>
              </a:rPr>
              <a:t>→</a:t>
            </a:r>
            <a:endParaRPr lang="en-US" sz="3600" dirty="0"/>
          </a:p>
        </p:txBody>
      </p:sp>
      <p:sp>
        <p:nvSpPr>
          <p:cNvPr id="7" name="Shape 5"/>
          <p:cNvSpPr/>
          <p:nvPr/>
        </p:nvSpPr>
        <p:spPr>
          <a:xfrm>
            <a:off x="3794760" y="2578608"/>
            <a:ext cx="1463040" cy="914400"/>
          </a:xfrm>
          <a:prstGeom prst="roundRect">
            <a:avLst>
              <a:gd name="adj" fmla="val 12000"/>
            </a:avLst>
          </a:prstGeom>
          <a:solidFill>
            <a:srgbClr val="6C8EBF"/>
          </a:solidFill>
          <a:ln/>
        </p:spPr>
      </p:sp>
      <p:sp>
        <p:nvSpPr>
          <p:cNvPr id="8" name="Text 6"/>
          <p:cNvSpPr txBox="1"/>
          <p:nvPr/>
        </p:nvSpPr>
        <p:spPr>
          <a:xfrm>
            <a:off x="3794760" y="2578608"/>
            <a:ext cx="146304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9" name="Text 7"/>
          <p:cNvSpPr txBox="1"/>
          <p:nvPr/>
        </p:nvSpPr>
        <p:spPr>
          <a:xfrm>
            <a:off x="3474720" y="3630168"/>
            <a:ext cx="2103120" cy="594360"/>
          </a:xfrm>
          <a:prstGeom prst="rect">
            <a:avLst/>
          </a:prstGeom>
          <a:noFill/>
          <a:ln/>
        </p:spPr>
        <p:txBody>
          <a:bodyPr wrap="square" lIns="0" tIns="0" rIns="0" bIns="0" rtlCol="0" anchor="t"/>
          <a:lstStyle/>
          <a:p>
            <a:pPr algn="ctr" indent="0" marL="0">
              <a:buNone/>
            </a:pPr>
            <a:r>
              <a:rPr lang="en-US" sz="1300" i="1" dirty="0">
                <a:solidFill>
                  <a:srgbClr val="FFFFFF"/>
                </a:solidFill>
                <a:latin typeface="Calibri" pitchFamily="34" charset="0"/>
                <a:ea typeface="Calibri" pitchFamily="34" charset="-122"/>
                <a:cs typeface="Calibri" pitchFamily="34" charset="-120"/>
              </a:rPr>
              <a:t>Recommendation engine</a:t>
            </a:r>
            <a:endParaRPr lang="en-US" sz="1300" dirty="0"/>
          </a:p>
          <a:p>
            <a:pPr algn="ctr" indent="0" marL="0">
              <a:buNone/>
            </a:pPr>
            <a:r>
              <a:rPr lang="en-US" sz="1300" i="1" dirty="0">
                <a:solidFill>
                  <a:srgbClr val="FFFFFF"/>
                </a:solidFill>
                <a:latin typeface="Calibri" pitchFamily="34" charset="0"/>
                <a:ea typeface="Calibri" pitchFamily="34" charset="-122"/>
                <a:cs typeface="Calibri" pitchFamily="34" charset="-120"/>
              </a:rPr>
              <a:t>(what else is worth ordering?)</a:t>
            </a:r>
            <a:endParaRPr lang="en-US" sz="1300" dirty="0"/>
          </a:p>
        </p:txBody>
      </p:sp>
      <p:sp>
        <p:nvSpPr>
          <p:cNvPr id="10" name="Text 8"/>
          <p:cNvSpPr txBox="1"/>
          <p:nvPr/>
        </p:nvSpPr>
        <p:spPr>
          <a:xfrm>
            <a:off x="5577840" y="2670048"/>
            <a:ext cx="548640" cy="731520"/>
          </a:xfrm>
          <a:prstGeom prst="rect">
            <a:avLst/>
          </a:prstGeom>
          <a:noFill/>
          <a:ln/>
        </p:spPr>
        <p:txBody>
          <a:bodyPr wrap="square" lIns="0" tIns="0" rIns="0" bIns="0" rtlCol="0" anchor="ctr"/>
          <a:lstStyle/>
          <a:p>
            <a:pPr algn="ctr" indent="0" marL="0">
              <a:buNone/>
            </a:pPr>
            <a:r>
              <a:rPr lang="en-US" sz="3600" b="1" dirty="0">
                <a:solidFill>
                  <a:srgbClr val="B9C4D8"/>
                </a:solidFill>
              </a:rPr>
              <a:t>→</a:t>
            </a:r>
            <a:endParaRPr lang="en-US" sz="3600" dirty="0"/>
          </a:p>
        </p:txBody>
      </p:sp>
      <p:sp>
        <p:nvSpPr>
          <p:cNvPr id="11" name="Shape 9"/>
          <p:cNvSpPr/>
          <p:nvPr/>
        </p:nvSpPr>
        <p:spPr>
          <a:xfrm>
            <a:off x="6126480" y="1783080"/>
            <a:ext cx="5608015" cy="502920"/>
          </a:xfrm>
          <a:prstGeom prst="roundRect">
            <a:avLst>
              <a:gd name="adj" fmla="val 14545"/>
            </a:avLst>
          </a:prstGeom>
          <a:solidFill>
            <a:srgbClr val="132040"/>
          </a:solidFill>
          <a:ln/>
        </p:spPr>
      </p:sp>
      <p:sp>
        <p:nvSpPr>
          <p:cNvPr id="12" name="Text 10"/>
          <p:cNvSpPr txBox="1"/>
          <p:nvPr/>
        </p:nvSpPr>
        <p:spPr>
          <a:xfrm>
            <a:off x="6355080" y="1783080"/>
            <a:ext cx="3252649" cy="50292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Blood Sugar (HbA1c)</a:t>
            </a:r>
            <a:endParaRPr lang="en-US" sz="1400" dirty="0"/>
          </a:p>
        </p:txBody>
      </p:sp>
      <p:sp>
        <p:nvSpPr>
          <p:cNvPr id="13" name="Text 11"/>
          <p:cNvSpPr txBox="1"/>
          <p:nvPr/>
        </p:nvSpPr>
        <p:spPr>
          <a:xfrm>
            <a:off x="9379129" y="1783080"/>
            <a:ext cx="2243206" cy="502920"/>
          </a:xfrm>
          <a:prstGeom prst="rect">
            <a:avLst/>
          </a:prstGeom>
          <a:noFill/>
          <a:ln/>
        </p:spPr>
        <p:txBody>
          <a:bodyPr wrap="square" lIns="0" tIns="0" rIns="0" bIns="0" rtlCol="0" anchor="ctr"/>
          <a:lstStyle/>
          <a:p>
            <a:pPr algn="l" indent="0" marL="0">
              <a:buNone/>
            </a:pPr>
            <a:r>
              <a:rPr lang="en-US" sz="1400" b="1" dirty="0">
                <a:solidFill>
                  <a:srgbClr val="F2A900"/>
                </a:solidFill>
                <a:latin typeface="Calibri" pitchFamily="34" charset="0"/>
                <a:ea typeface="Calibri" pitchFamily="34" charset="-122"/>
                <a:cs typeface="Calibri" pitchFamily="34" charset="-120"/>
              </a:rPr>
              <a:t>✓  Order</a:t>
            </a:r>
            <a:endParaRPr lang="en-US" sz="1400" dirty="0"/>
          </a:p>
        </p:txBody>
      </p:sp>
      <p:sp>
        <p:nvSpPr>
          <p:cNvPr id="14" name="Shape 12"/>
          <p:cNvSpPr/>
          <p:nvPr/>
        </p:nvSpPr>
        <p:spPr>
          <a:xfrm>
            <a:off x="6126480" y="2450592"/>
            <a:ext cx="5608015" cy="502920"/>
          </a:xfrm>
          <a:prstGeom prst="roundRect">
            <a:avLst>
              <a:gd name="adj" fmla="val 14545"/>
            </a:avLst>
          </a:prstGeom>
          <a:solidFill>
            <a:srgbClr val="132040"/>
          </a:solidFill>
          <a:ln/>
        </p:spPr>
      </p:sp>
      <p:sp>
        <p:nvSpPr>
          <p:cNvPr id="15" name="Text 13"/>
          <p:cNvSpPr txBox="1"/>
          <p:nvPr/>
        </p:nvSpPr>
        <p:spPr>
          <a:xfrm>
            <a:off x="6355080" y="2450592"/>
            <a:ext cx="3252649" cy="50292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Blood Group</a:t>
            </a:r>
            <a:endParaRPr lang="en-US" sz="1400" dirty="0"/>
          </a:p>
        </p:txBody>
      </p:sp>
      <p:sp>
        <p:nvSpPr>
          <p:cNvPr id="16" name="Text 14"/>
          <p:cNvSpPr txBox="1"/>
          <p:nvPr/>
        </p:nvSpPr>
        <p:spPr>
          <a:xfrm>
            <a:off x="9379129" y="2450592"/>
            <a:ext cx="2243206" cy="502920"/>
          </a:xfrm>
          <a:prstGeom prst="rect">
            <a:avLst/>
          </a:prstGeom>
          <a:noFill/>
          <a:ln/>
        </p:spPr>
        <p:txBody>
          <a:bodyPr wrap="square" lIns="0" tIns="0" rIns="0" bIns="0" rtlCol="0" anchor="ctr"/>
          <a:lstStyle/>
          <a:p>
            <a:pPr algn="l" indent="0" marL="0">
              <a:buNone/>
            </a:pPr>
            <a:r>
              <a:rPr lang="en-US" sz="1400" b="1" dirty="0">
                <a:solidFill>
                  <a:srgbClr val="B9C4D8"/>
                </a:solidFill>
                <a:latin typeface="Calibri" pitchFamily="34" charset="0"/>
                <a:ea typeface="Calibri" pitchFamily="34" charset="-122"/>
                <a:cs typeface="Calibri" pitchFamily="34" charset="-120"/>
              </a:rPr>
              <a:t>–  Skip</a:t>
            </a:r>
            <a:endParaRPr lang="en-US" sz="1400" dirty="0"/>
          </a:p>
        </p:txBody>
      </p:sp>
      <p:sp>
        <p:nvSpPr>
          <p:cNvPr id="17" name="Shape 15"/>
          <p:cNvSpPr/>
          <p:nvPr/>
        </p:nvSpPr>
        <p:spPr>
          <a:xfrm>
            <a:off x="6126480" y="3118104"/>
            <a:ext cx="5608015" cy="502920"/>
          </a:xfrm>
          <a:prstGeom prst="roundRect">
            <a:avLst>
              <a:gd name="adj" fmla="val 14545"/>
            </a:avLst>
          </a:prstGeom>
          <a:solidFill>
            <a:srgbClr val="132040"/>
          </a:solidFill>
          <a:ln/>
        </p:spPr>
      </p:sp>
      <p:sp>
        <p:nvSpPr>
          <p:cNvPr id="18" name="Text 16"/>
          <p:cNvSpPr txBox="1"/>
          <p:nvPr/>
        </p:nvSpPr>
        <p:spPr>
          <a:xfrm>
            <a:off x="6355080" y="3118104"/>
            <a:ext cx="3252649" cy="50292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Hepatitis B (HBsAg)</a:t>
            </a:r>
            <a:endParaRPr lang="en-US" sz="1400" dirty="0"/>
          </a:p>
        </p:txBody>
      </p:sp>
      <p:sp>
        <p:nvSpPr>
          <p:cNvPr id="19" name="Text 17"/>
          <p:cNvSpPr txBox="1"/>
          <p:nvPr/>
        </p:nvSpPr>
        <p:spPr>
          <a:xfrm>
            <a:off x="9379129" y="3118104"/>
            <a:ext cx="2243206" cy="502920"/>
          </a:xfrm>
          <a:prstGeom prst="rect">
            <a:avLst/>
          </a:prstGeom>
          <a:noFill/>
          <a:ln/>
        </p:spPr>
        <p:txBody>
          <a:bodyPr wrap="square" lIns="0" tIns="0" rIns="0" bIns="0" rtlCol="0" anchor="ctr"/>
          <a:lstStyle/>
          <a:p>
            <a:pPr algn="l" indent="0" marL="0">
              <a:buNone/>
            </a:pPr>
            <a:r>
              <a:rPr lang="en-US" sz="1400" b="1" dirty="0">
                <a:solidFill>
                  <a:srgbClr val="B9C4D8"/>
                </a:solidFill>
                <a:latin typeface="Calibri" pitchFamily="34" charset="0"/>
                <a:ea typeface="Calibri" pitchFamily="34" charset="-122"/>
                <a:cs typeface="Calibri" pitchFamily="34" charset="-120"/>
              </a:rPr>
              <a:t>–  Skip</a:t>
            </a:r>
            <a:endParaRPr lang="en-US" sz="1400" dirty="0"/>
          </a:p>
        </p:txBody>
      </p:sp>
      <p:sp>
        <p:nvSpPr>
          <p:cNvPr id="20" name="Shape 18"/>
          <p:cNvSpPr/>
          <p:nvPr/>
        </p:nvSpPr>
        <p:spPr>
          <a:xfrm>
            <a:off x="6126480" y="3785616"/>
            <a:ext cx="5608015" cy="502920"/>
          </a:xfrm>
          <a:prstGeom prst="roundRect">
            <a:avLst>
              <a:gd name="adj" fmla="val 14545"/>
            </a:avLst>
          </a:prstGeom>
          <a:solidFill>
            <a:srgbClr val="132040"/>
          </a:solidFill>
          <a:ln/>
        </p:spPr>
      </p:sp>
      <p:sp>
        <p:nvSpPr>
          <p:cNvPr id="21" name="Text 19"/>
          <p:cNvSpPr txBox="1"/>
          <p:nvPr/>
        </p:nvSpPr>
        <p:spPr>
          <a:xfrm>
            <a:off x="6355080" y="3785616"/>
            <a:ext cx="3252649" cy="50292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Hepatitis C (Anti-HCV)</a:t>
            </a:r>
            <a:endParaRPr lang="en-US" sz="1400" dirty="0"/>
          </a:p>
        </p:txBody>
      </p:sp>
      <p:sp>
        <p:nvSpPr>
          <p:cNvPr id="22" name="Text 20"/>
          <p:cNvSpPr txBox="1"/>
          <p:nvPr/>
        </p:nvSpPr>
        <p:spPr>
          <a:xfrm>
            <a:off x="9379129" y="3785616"/>
            <a:ext cx="2243206" cy="502920"/>
          </a:xfrm>
          <a:prstGeom prst="rect">
            <a:avLst/>
          </a:prstGeom>
          <a:noFill/>
          <a:ln/>
        </p:spPr>
        <p:txBody>
          <a:bodyPr wrap="square" lIns="0" tIns="0" rIns="0" bIns="0" rtlCol="0" anchor="ctr"/>
          <a:lstStyle/>
          <a:p>
            <a:pPr algn="l" indent="0" marL="0">
              <a:buNone/>
            </a:pPr>
            <a:r>
              <a:rPr lang="en-US" sz="1400" b="1" dirty="0">
                <a:solidFill>
                  <a:srgbClr val="B9C4D8"/>
                </a:solidFill>
                <a:latin typeface="Calibri" pitchFamily="34" charset="0"/>
                <a:ea typeface="Calibri" pitchFamily="34" charset="-122"/>
                <a:cs typeface="Calibri" pitchFamily="34" charset="-120"/>
              </a:rPr>
              <a:t>–  Skip</a:t>
            </a:r>
            <a:endParaRPr lang="en-US" sz="1400" dirty="0"/>
          </a:p>
        </p:txBody>
      </p:sp>
      <p:sp>
        <p:nvSpPr>
          <p:cNvPr id="23" name="Shape 21"/>
          <p:cNvSpPr/>
          <p:nvPr/>
        </p:nvSpPr>
        <p:spPr>
          <a:xfrm>
            <a:off x="2651760" y="4562856"/>
            <a:ext cx="6858000" cy="1417320"/>
          </a:xfrm>
          <a:prstGeom prst="roundRect">
            <a:avLst>
              <a:gd name="adj" fmla="val 6452"/>
            </a:avLst>
          </a:prstGeom>
          <a:solidFill>
            <a:srgbClr val="132040"/>
          </a:solidFill>
          <a:ln/>
        </p:spPr>
      </p:sp>
      <p:sp>
        <p:nvSpPr>
          <p:cNvPr id="24" name="Text 22"/>
          <p:cNvSpPr txBox="1"/>
          <p:nvPr/>
        </p:nvSpPr>
        <p:spPr>
          <a:xfrm>
            <a:off x="2834640" y="4681728"/>
            <a:ext cx="2377440" cy="1179576"/>
          </a:xfrm>
          <a:prstGeom prst="rect">
            <a:avLst/>
          </a:prstGeom>
          <a:noFill/>
          <a:ln/>
        </p:spPr>
        <p:txBody>
          <a:bodyPr wrap="square" lIns="0" tIns="0" rIns="0" bIns="0" rtlCol="0" anchor="ctr"/>
          <a:lstStyle/>
          <a:p>
            <a:pPr algn="ctr" indent="0" marL="0">
              <a:buNone/>
            </a:pPr>
            <a:r>
              <a:rPr lang="en-US" sz="5800" b="1" dirty="0">
                <a:solidFill>
                  <a:srgbClr val="F2A900"/>
                </a:solidFill>
                <a:latin typeface="Cambria" pitchFamily="34" charset="0"/>
                <a:ea typeface="Cambria" pitchFamily="34" charset="-122"/>
                <a:cs typeface="Cambria" pitchFamily="34" charset="-120"/>
              </a:rPr>
              <a:t>0.81</a:t>
            </a:r>
            <a:endParaRPr lang="en-US" sz="5800" dirty="0"/>
          </a:p>
        </p:txBody>
      </p:sp>
      <p:sp>
        <p:nvSpPr>
          <p:cNvPr id="25" name="Text 23"/>
          <p:cNvSpPr txBox="1"/>
          <p:nvPr/>
        </p:nvSpPr>
        <p:spPr>
          <a:xfrm>
            <a:off x="5349240" y="4681728"/>
            <a:ext cx="3977640" cy="1179576"/>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AUROC flagging HbA1c risk
</a:t>
            </a:r>
            <a:pPr algn="l" indent="0" marL="0">
              <a:buNone/>
            </a:pPr>
            <a:r>
              <a:rPr lang="en-US" sz="1300" i="1" dirty="0">
                <a:solidFill>
                  <a:srgbClr val="B9C4D8"/>
                </a:solidFill>
                <a:latin typeface="Calibri" pitchFamily="34" charset="0"/>
                <a:ea typeface="Calibri" pitchFamily="34" charset="-122"/>
                <a:cs typeface="Calibri" pitchFamily="34" charset="-120"/>
              </a:rPr>
              <a:t>vs. 0.74 without CBC — our first pilot module</a:t>
            </a:r>
            <a:endParaRPr lang="en-US" sz="1700" dirty="0"/>
          </a:p>
        </p:txBody>
      </p:sp>
      <p:sp>
        <p:nvSpPr>
          <p:cNvPr id="26" name="Text 24"/>
          <p:cNvSpPr txBox="1"/>
          <p:nvPr/>
        </p:nvSpPr>
        <p:spPr>
          <a:xfrm>
            <a:off x="548640" y="6263640"/>
            <a:ext cx="11091672" cy="365760"/>
          </a:xfrm>
          <a:prstGeom prst="rect">
            <a:avLst/>
          </a:prstGeom>
          <a:noFill/>
          <a:ln/>
        </p:spPr>
        <p:txBody>
          <a:bodyPr wrap="square" lIns="0" tIns="0" rIns="0" bIns="0" rtlCol="0" anchor="ctr"/>
          <a:lstStyle/>
          <a:p>
            <a:pPr algn="ctr" indent="0" marL="0">
              <a:buNone/>
            </a:pPr>
            <a:r>
              <a:rPr lang="en-US" sz="1100" dirty="0">
                <a:solidFill>
                  <a:srgbClr val="B9C4D8"/>
                </a:solidFill>
                <a:latin typeface="Calibri" pitchFamily="34" charset="0"/>
                <a:ea typeface="Calibri" pitchFamily="34" charset="-122"/>
                <a:cs typeface="Calibri" pitchFamily="34" charset="-120"/>
              </a:rPr>
              <a:t>Hamid Saeed  ·  BMEN 600, Team Vortex  ·  Lab Test Recommendation System  ·  NHANES 2021–2023</a:t>
            </a:r>
            <a:endParaRPr lang="en-US" sz="1100" dirty="0"/>
          </a:p>
        </p:txBody>
      </p:sp>
    </p:spTree>
  </p:cSld>
  <p:clrMapOvr>
    <a:masterClrMapping/>
  </p:clrMapOvr>
</p:sld>
</file>

<file path=ppt/theme/theme1.xml><?xml version="1.0" encoding="utf-8"?>
<a:theme xmlns:a="http://schemas.openxmlformats.org/drawingml/2006/main" name="VortexBlood">
  <a:themeElements>
    <a:clrScheme name="VortexBlood">
      <a:dk1>
        <a:srgbClr val="FFFFFF"/>
      </a:dk1>
      <a:lt1>
        <a:srgbClr val="0B1830"/>
      </a:lt1>
      <a:dk2>
        <a:srgbClr val="C8102E"/>
      </a:dk2>
      <a:lt2>
        <a:srgbClr val="6C8EBF"/>
      </a:lt2>
      <a:accent1>
        <a:srgbClr val="C8102E"/>
      </a:accent1>
      <a:accent2>
        <a:srgbClr val="6C8EBF"/>
      </a:accent2>
      <a:accent3>
        <a:srgbClr val="F2A900"/>
      </a:accent3>
      <a:accent4>
        <a:srgbClr val="B9C4D8"/>
      </a:accent4>
      <a:accent5>
        <a:srgbClr val="FFFFFF"/>
      </a:accent5>
      <a:accent6>
        <a:srgbClr val="0B1830"/>
      </a:accent6>
      <a:hlink>
        <a:srgbClr val="6C8EBF"/>
      </a:hlink>
      <a:folHlink>
        <a:srgbClr val="6C8EBF"/>
      </a:folHlink>
    </a:clrScheme>
    <a:fontScheme name="VortexBloo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2026-10-26T21:43:16Z</dcterms:created>
  <dcterms:modified xsi:type="dcterms:W3CDTF">2026-10-26T21:43:16Z</dcterms:modified>
</cp:coreProperties>
</file>